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A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A2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A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A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0A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0A3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0A3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0A3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0A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0A3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0A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0A3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657600"/>
            <a:ext cx="12191695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FCDA5"/>
                </a:solidFill>
              </a:defRPr>
            </a:pPr>
            <a:r>
              <a:t>給年輕世代的永續素養課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COP26 氣候峰會</a:t>
            </a:r>
            <a:br/>
            <a:r>
              <a:t>與我們想要的未來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700"/>
                </a:solidFill>
              </a:defRPr>
            </a:pPr>
            <a:r>
              <a:t>永續發展 × 氣候行動 × 青年參與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217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F4F8"/>
                </a:solidFill>
              </a:defRPr>
            </a:pPr>
            <a:r>
              <a:t>對象：高三學生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A44"/>
                </a:solidFill>
              </a:defRPr>
            </a:pPr>
            <a:r>
              <a:t>課程架構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本課程將帶你一步一步探索氣候變遷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2286000"/>
            <a:ext cx="1828800" cy="22860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融冰體驗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474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F4F8"/>
                </a:solidFill>
              </a:defRPr>
            </a:pPr>
            <a:r>
              <a:t>感受暖化威脅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743200" y="3200400"/>
            <a:ext cx="36576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08960" y="2286000"/>
            <a:ext cx="182880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🌡️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全球暖化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474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F4F8"/>
                </a:solidFill>
              </a:defRPr>
            </a:pPr>
            <a:r>
              <a:t>為什麼發燒？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937760" y="3200400"/>
            <a:ext cx="36576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03520" y="2286000"/>
            <a:ext cx="1828800" cy="2286000"/>
          </a:xfrm>
          <a:prstGeom prst="round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🏛️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COP26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474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F4F8"/>
                </a:solidFill>
              </a:defRPr>
            </a:pPr>
            <a:r>
              <a:t>全球氣候峰會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132320" y="3200400"/>
            <a:ext cx="36576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98079" y="2286000"/>
            <a:ext cx="1828800" cy="2286000"/>
          </a:xfrm>
          <a:prstGeom prst="round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⚖️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氣候正義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3474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F4F8"/>
                </a:solidFill>
              </a:defRPr>
            </a:pPr>
            <a:r>
              <a:t>誰受到影響？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326879" y="3200400"/>
            <a:ext cx="36576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692640" y="2286000"/>
            <a:ext cx="1828800" cy="22860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青年行動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3474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F4F8"/>
                </a:solidFill>
              </a:defRPr>
            </a:pPr>
            <a:r>
              <a:t>你的選擇！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A44"/>
                </a:solidFill>
              </a:defRPr>
            </a:pPr>
            <a:r>
              <a:t>🌊 融冰體驗遊戲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全球暖化 × 北極熊的家園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46304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規則（4人一組，站在報紙上）：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▸ 升溫 0.5°C → 報紙對折（冰層融化）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▸ 升溫 1.0°C → 再對折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▸ 升溫 1.5°C → 再對折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▸ 升溫 2.0°C → 再對折（誰還站得住？）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反思：如果你是北極熊，你希望人類怎麼做？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1463040"/>
            <a:ext cx="36576" cy="411480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D700"/>
                </a:solidFill>
              </a:defRPr>
            </a:pPr>
            <a:r>
              <a:t>科學原理：</a:t>
            </a:r>
          </a:p>
          <a:p>
            <a:pPr>
              <a:spcAft>
                <a:spcPts val="800"/>
              </a:spcAft>
              <a:defRPr sz="1600">
                <a:solidFill>
                  <a:srgbClr val="FFD7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D700"/>
                </a:solidFill>
              </a:defRPr>
            </a:pPr>
            <a:r>
              <a:t>燃燒化石燃料</a:t>
            </a:r>
          </a:p>
          <a:p>
            <a:pPr>
              <a:spcAft>
                <a:spcPts val="800"/>
              </a:spcAft>
              <a:defRPr sz="1600">
                <a:solidFill>
                  <a:srgbClr val="FFD700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600">
                <a:solidFill>
                  <a:srgbClr val="FFD700"/>
                </a:solidFill>
              </a:defRPr>
            </a:pPr>
            <a:r>
              <a:t>CO₂ 增加</a:t>
            </a:r>
          </a:p>
          <a:p>
            <a:pPr>
              <a:spcAft>
                <a:spcPts val="800"/>
              </a:spcAft>
              <a:defRPr sz="1600">
                <a:solidFill>
                  <a:srgbClr val="FFD700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600">
                <a:solidFill>
                  <a:srgbClr val="FFD700"/>
                </a:solidFill>
              </a:defRPr>
            </a:pPr>
            <a:r>
              <a:t>溫室效應</a:t>
            </a:r>
          </a:p>
          <a:p>
            <a:pPr>
              <a:spcAft>
                <a:spcPts val="800"/>
              </a:spcAft>
              <a:defRPr sz="1600">
                <a:solidFill>
                  <a:srgbClr val="FFD700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600">
                <a:solidFill>
                  <a:srgbClr val="FFD700"/>
                </a:solidFill>
              </a:defRPr>
            </a:pPr>
            <a:r>
              <a:t>地球升溫</a:t>
            </a:r>
          </a:p>
          <a:p>
            <a:pPr>
              <a:spcAft>
                <a:spcPts val="800"/>
              </a:spcAft>
              <a:defRPr sz="1600">
                <a:solidFill>
                  <a:srgbClr val="FFD700"/>
                </a:solidFill>
              </a:defRPr>
            </a:pPr>
            <a:r>
              <a:t>  ↓</a:t>
            </a:r>
          </a:p>
          <a:p>
            <a:pPr>
              <a:spcAft>
                <a:spcPts val="800"/>
              </a:spcAft>
              <a:defRPr sz="1600">
                <a:solidFill>
                  <a:srgbClr val="FFD700"/>
                </a:solidFill>
              </a:defRPr>
            </a:pPr>
            <a:r>
              <a:t>冰層融化、海平面上升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A44"/>
                </a:solidFill>
              </a:defRPr>
            </a:pPr>
            <a:r>
              <a:t>🌡️ 地球為什麼發燒？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人類活動造成全球暖化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164592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因素</a:t>
                      </a:r>
                    </a:p>
                  </a:txBody>
                  <a:tcPr>
                    <a:solidFill>
                      <a:srgbClr val="4FCD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升溫幅度</a:t>
                      </a:r>
                    </a:p>
                  </a:txBody>
                  <a:tcPr>
                    <a:solidFill>
                      <a:srgbClr val="4FCD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影響</a:t>
                      </a:r>
                    </a:p>
                  </a:txBody>
                  <a:tcPr>
                    <a:solidFill>
                      <a:srgbClr val="4FCDA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自然因素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~0.1°C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火山活動、太陽輻射變化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人為因素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~1.2°C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化石燃料、森林砍伐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自然+人為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~1.3°C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目前實際觀測值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關鍵密碼：2030 年碳排減半 │ 1.5°C 安全上限 │ 2050 年淨零排放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A44"/>
                </a:solidFill>
              </a:defRPr>
            </a:pPr>
            <a:r>
              <a:t>爲什麼是 1.5°C？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升溫 1.5°C vs 2°C 的差距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16459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面向</a:t>
                      </a:r>
                    </a:p>
                  </a:txBody>
                  <a:tcPr>
                    <a:solidFill>
                      <a:srgbClr val="4FCD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升溫 1.5°C</a:t>
                      </a:r>
                    </a:p>
                  </a:txBody>
                  <a:tcPr>
                    <a:solidFill>
                      <a:srgbClr val="4FCD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升溫 2°C（多 0.5°C 的代價）</a:t>
                      </a:r>
                    </a:p>
                  </a:txBody>
                  <a:tcPr>
                    <a:solidFill>
                      <a:srgbClr val="4FCDA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極端高溫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14% 人口受影響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37% 人口受影響（+17 億人）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海平面上升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上升 0.4 公尺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上升 0.5 公尺（+1000 萬人）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珊瑚礁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70-90% 退化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99% 死亡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糧食安全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部分作物減產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主要作物全面減產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經濟損失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成本降低 25%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損失大幅增加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A44"/>
                </a:solidFill>
              </a:defRPr>
            </a:pPr>
            <a:r>
              <a:t>🏛️ COP26 氣候峰會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拯救地球的最後機會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8F4F8"/>
                </a:solidFill>
              </a:defRPr>
            </a:pPr>
            <a:r>
              <a:t>COP = Conference of the Parties（締約國會議）</a:t>
            </a:r>
          </a:p>
          <a:p>
            <a:pPr>
              <a:spcAft>
                <a:spcPts val="800"/>
              </a:spcAft>
              <a:defRPr sz="2200">
                <a:solidFill>
                  <a:srgbClr val="E8F4F8"/>
                </a:solidFill>
              </a:defRPr>
            </a:pPr>
            <a:r>
              <a:t>1995 年起每年舉辦，197 個國家參與</a:t>
            </a:r>
          </a:p>
          <a:p>
            <a:pPr>
              <a:spcAft>
                <a:spcPts val="800"/>
              </a:spcAft>
              <a:defRPr sz="2200">
                <a:solidFill>
                  <a:srgbClr val="E8F4F8"/>
                </a:solidFill>
              </a:defRPr>
            </a:pPr>
            <a:r>
              <a:t>COP26（2021，英國格拉斯哥）— 關鍵轉折點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26080"/>
            <a:ext cx="10515600" cy="36576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004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COP26 參與規模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25,000 名代表（200 國）│10,000 名警察│100,000 名抗議民眾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四大目標：控制 1.5°C │ 1000 億氣候資金 │ 保護生態 │ 全民合作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A44"/>
                </a:solidFill>
              </a:defRPr>
            </a:pPr>
            <a:r>
              <a:t>🌱 什麼是「淨零排放」？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Net Zero = 排放量 − 移除量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淨零 ≠ 零排放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  排放（Emission）：燃燒化石燃料、工業製程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− 移除（Removal）：森林碳匯、碳捕集技術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───────────────────────────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  = 淨零（Net Zero）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全球響應進度：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128+ 國家 · 235+ 城市 · 699+ 企業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台灣也已宣示：2050 淨零轉型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A44"/>
                </a:solidFill>
              </a:defRPr>
            </a:pPr>
            <a:r>
              <a:t>COP26 四大核心目標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各國領袖齊聚格拉斯哥的承諾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16459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目標</a:t>
                      </a:r>
                    </a:p>
                  </a:txBody>
                  <a:tcPr>
                    <a:solidFill>
                      <a:srgbClr val="4FCD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具體內容</a:t>
                      </a:r>
                    </a:p>
                  </a:txBody>
                  <a:tcPr>
                    <a:solidFill>
                      <a:srgbClr val="4FCD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重要性</a:t>
                      </a:r>
                    </a:p>
                  </a:txBody>
                  <a:tcPr>
                    <a:solidFill>
                      <a:srgbClr val="4FCDA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① 控制升溫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各國提出更積極減碳承諾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阻止氣候災難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② 氣候資金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已開發國家提供 1000 億美元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協助弱勢國家轉型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③ 保護生態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森林保育、生物多樣性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守護自然棲息地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④ 全民合作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政府 + 企業 + 民間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沒有人是局外人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A44"/>
                </a:solidFill>
              </a:defRPr>
            </a:pPr>
            <a:r>
              <a:t>⚡ 能源轉型：淨零之戰的關鍵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從化石燃料到再生能源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1645920"/>
            <a:ext cx="3200400" cy="1371600"/>
          </a:xfrm>
          <a:prstGeom prst="round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化石燃料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F4F8"/>
                </a:solidFill>
              </a:defRPr>
            </a:pPr>
            <a:r>
              <a:t>煤、石油、天然氣</a:t>
            </a:r>
            <a:br/>
            <a:r>
              <a:t>占全球碳排最大宗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114800" y="2011680"/>
            <a:ext cx="731520" cy="457200"/>
          </a:xfrm>
          <a:prstGeom prst="rightArrow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0" y="1645920"/>
            <a:ext cx="3200400" cy="1371600"/>
          </a:xfrm>
          <a:prstGeom prst="round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再生能源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286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F4F8"/>
                </a:solidFill>
              </a:defRPr>
            </a:pPr>
            <a:r>
              <a:t>太陽能、風力、水力</a:t>
            </a:r>
            <a:br/>
            <a:r>
              <a:t>100+ 城市已達 70%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4747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8F4F8"/>
                </a:solidFill>
              </a:defRPr>
            </a:pPr>
            <a:r>
              <a:t>綠色城市典範：格拉斯哥（Glasgow）</a:t>
            </a:r>
          </a:p>
          <a:p>
            <a:pPr>
              <a:spcAft>
                <a:spcPts val="800"/>
              </a:spcAft>
              <a:defRPr sz="1800">
                <a:solidFill>
                  <a:srgbClr val="E8F4F8"/>
                </a:solidFill>
              </a:defRPr>
            </a:pPr>
            <a:r>
              <a:t>  • 工業革命搖籃 → 第四波綠色工業革命</a:t>
            </a:r>
          </a:p>
          <a:p>
            <a:pPr>
              <a:spcAft>
                <a:spcPts val="800"/>
              </a:spcAft>
              <a:defRPr sz="1800">
                <a:solidFill>
                  <a:srgbClr val="E8F4F8"/>
                </a:solidFill>
              </a:defRPr>
            </a:pPr>
            <a:r>
              <a:t>  • 蘇格蘭目標：2045 年淨零</a:t>
            </a:r>
          </a:p>
          <a:p>
            <a:pPr>
              <a:spcAft>
                <a:spcPts val="800"/>
              </a:spcAft>
              <a:defRPr sz="1800">
                <a:solidFill>
                  <a:srgbClr val="E8F4F8"/>
                </a:solidFill>
              </a:defRPr>
            </a:pPr>
            <a:r>
              <a:t>  • 2021 年 95% 電力來自再生能源</a:t>
            </a:r>
          </a:p>
          <a:p>
            <a:pPr>
              <a:spcAft>
                <a:spcPts val="800"/>
              </a:spcAft>
              <a:defRPr sz="1800">
                <a:solidFill>
                  <a:srgbClr val="E8F4F8"/>
                </a:solidFill>
              </a:defRPr>
            </a:pPr>
            <a:r>
              <a:t>  • 獲選全球綠色城市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A44"/>
                </a:solidFill>
              </a:defRPr>
            </a:pPr>
            <a:r>
              <a:t>⚖️ 氣候正義：誰承受最多？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造成暖化最少的國家，承受最大的苦難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吐瓦魯 — 第一個面臨消失的國家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• 平均海拔僅 198 公分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• 水位每年上升 0.5 公分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• 外交部長站海水中演講，震撼世界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性別與氣候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• 氣候災民中 80% 是女性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• 400 萬女孩因氣候事件失學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核心問題：不平等！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富裕國家排放最多，貧窮國家受害最深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A44"/>
                </a:solidFill>
              </a:defRPr>
            </a:pPr>
            <a:r>
              <a:t>🌏 氣候難民：下一個可能是我們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台灣海平面上升速度是全球 2 倍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164592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面向</a:t>
                      </a:r>
                    </a:p>
                  </a:txBody>
                  <a:tcPr>
                    <a:solidFill>
                      <a:srgbClr val="4FCD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數據</a:t>
                      </a:r>
                    </a:p>
                  </a:txBody>
                  <a:tcPr>
                    <a:solidFill>
                      <a:srgbClr val="4FCD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影響</a:t>
                      </a:r>
                    </a:p>
                  </a:txBody>
                  <a:tcPr>
                    <a:solidFill>
                      <a:srgbClr val="4FCDA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海平面上升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台灣是全球平均 2 倍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沿海城市首當其衝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淹沒面積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1,398 平方公里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約 5 個台北市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受影響人口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約 120 萬人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2050 年可能發生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A44"/>
                </a:solidFill>
              </a:defRPr>
            </a:pPr>
            <a:r>
              <a:t>✚ 年輕世代站出來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No More Blah Blah！行動才有改變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Greta Thunberg（格蕾塔·童貝里）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• 2018 年：15 歲，瑞典議會前「為氣候罷課」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• 2019 年：《時代》風雲人物（史上最年輕）</a:t>
            </a:r>
          </a:p>
          <a:p>
            <a:pPr>
              <a:spcAft>
                <a:spcPts val="800"/>
              </a:spcAft>
              <a:defRPr sz="2000">
                <a:solidFill>
                  <a:srgbClr val="E8F4F8"/>
                </a:solidFill>
              </a:defRPr>
            </a:pPr>
            <a:r>
              <a:t>  • 啟發 400 萬人參與全球氣候遊行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40480"/>
            <a:ext cx="73152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D700"/>
                </a:solidFill>
              </a:defRPr>
            </a:pPr>
            <a:r>
              <a:t>“COP 已變成公關活動，領導人只會說漂亮話”</a:t>
            </a:r>
          </a:p>
          <a:p>
            <a:pPr>
              <a:spcAft>
                <a:spcPts val="800"/>
              </a:spcAft>
              <a:defRPr sz="2000">
                <a:solidFill>
                  <a:srgbClr val="FFD700"/>
                </a:solidFill>
              </a:defRPr>
            </a:pPr>
            <a:r>
              <a:t>  — Greta 在 COP26 的經典演講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A44"/>
                </a:solidFill>
              </a:defRPr>
            </a:pPr>
            <a:r>
              <a:t>COP26 關鍵字總複習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這些概念你記住了嗎？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137160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關鍵字</a:t>
                      </a:r>
                    </a:p>
                  </a:txBody>
                  <a:tcPr>
                    <a:solidFill>
                      <a:srgbClr val="4FCD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一句話解釋</a:t>
                      </a:r>
                    </a:p>
                  </a:txBody>
                  <a:tcPr>
                    <a:solidFill>
                      <a:srgbClr val="4FCDA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🌡️ 全球暖化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地球因溫室氣體增加而升溫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🧊 海平面上升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冰層融化導致海水淹沒陸地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🌱 淨零碳排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排放量 = 移除量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⚡ 能源轉型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從化石燃料轉向再生能源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⚖️ 氣候正義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誰排放最多？誰受害最深？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性別不平等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氣候災民中 80% 是女性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🏳️ 氣候難民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因暖化被迫離開家園的人</a:t>
                      </a:r>
                    </a:p>
                  </a:txBody>
                  <a:tcPr>
                    <a:solidFill>
                      <a:srgbClr val="1A6B8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✚ Blah Blah Blah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年輕世代對空頭承諾的不滿</a:t>
                      </a:r>
                    </a:p>
                  </a:txBody>
                  <a:tcPr>
                    <a:solidFill>
                      <a:srgbClr val="0A3D62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0B4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0C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0D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0E4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0F4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105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1254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135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145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55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66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76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186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2A44"/>
                </a:solidFill>
              </a:defRPr>
            </a:pPr>
            <a:r>
              <a:t>小組討論：2050 年的你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A2A44"/>
                </a:solidFill>
              </a:defRPr>
            </a:pPr>
            <a:r>
              <a:t>思考未來的模樣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46304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8F4F8"/>
                </a:solidFill>
              </a:defRPr>
            </a:pPr>
            <a:r>
              <a:t>2050 年時，你幾歲？地球會是什麼樣子？</a:t>
            </a:r>
          </a:p>
          <a:p>
            <a:pPr>
              <a:spcAft>
                <a:spcPts val="800"/>
              </a:spcAft>
              <a:defRPr sz="2200">
                <a:solidFill>
                  <a:srgbClr val="E8F4F8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E8F4F8"/>
                </a:solidFill>
              </a:defRPr>
            </a:pPr>
            <a:r>
              <a:t>討論問題：</a:t>
            </a:r>
          </a:p>
          <a:p>
            <a:pPr>
              <a:spcAft>
                <a:spcPts val="800"/>
              </a:spcAft>
              <a:defRPr sz="2200">
                <a:solidFill>
                  <a:srgbClr val="E8F4F8"/>
                </a:solidFill>
              </a:defRPr>
            </a:pPr>
            <a:r>
              <a:t>  1. 日常生活中，你可以做哪些事來減碳？</a:t>
            </a:r>
          </a:p>
          <a:p>
            <a:pPr>
              <a:spcAft>
                <a:spcPts val="800"/>
              </a:spcAft>
              <a:defRPr sz="2200">
                <a:solidFill>
                  <a:srgbClr val="E8F4F8"/>
                </a:solidFill>
              </a:defRPr>
            </a:pPr>
            <a:r>
              <a:t>  2. 台灣該如何因應氣候變遷？</a:t>
            </a:r>
          </a:p>
          <a:p>
            <a:pPr>
              <a:spcAft>
                <a:spcPts val="800"/>
              </a:spcAft>
              <a:defRPr sz="2200">
                <a:solidFill>
                  <a:srgbClr val="E8F4F8"/>
                </a:solidFill>
              </a:defRPr>
            </a:pPr>
            <a:r>
              <a:t>  3. 如果你成為總統，你會推動什麼政策？</a:t>
            </a:r>
          </a:p>
          <a:p>
            <a:pPr>
              <a:spcAft>
                <a:spcPts val="800"/>
              </a:spcAft>
              <a:defRPr sz="2200">
                <a:solidFill>
                  <a:srgbClr val="E8F4F8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E8F4F8"/>
                </a:solidFill>
              </a:defRPr>
            </a:pPr>
            <a:r>
              <a:t>想一想：</a:t>
            </a:r>
          </a:p>
          <a:p>
            <a:pPr>
              <a:spcAft>
                <a:spcPts val="800"/>
              </a:spcAft>
              <a:defRPr sz="2200">
                <a:solidFill>
                  <a:srgbClr val="E8F4F8"/>
                </a:solidFill>
              </a:defRPr>
            </a:pPr>
            <a:r>
              <a:t>  你現在做的每一個選擇，</a:t>
            </a:r>
          </a:p>
          <a:p>
            <a:pPr>
              <a:spcAft>
                <a:spcPts val="800"/>
              </a:spcAft>
              <a:defRPr sz="2200">
                <a:solidFill>
                  <a:srgbClr val="E8F4F8"/>
                </a:solidFill>
              </a:defRPr>
            </a:pPr>
            <a:r>
              <a:t>  都在決定 2050 年的地球樣貌。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1"/>
          </a:xfrm>
          <a:prstGeom prst="rect">
            <a:avLst/>
          </a:prstGeom>
          <a:solidFill>
            <a:srgbClr val="4FC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457201"/>
          </a:xfrm>
          <a:prstGeom prst="rect">
            <a:avLst/>
          </a:prstGeom>
          <a:solidFill>
            <a:srgbClr val="4BC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457201"/>
          </a:xfrm>
          <a:prstGeom prst="rect">
            <a:avLst/>
          </a:prstGeom>
          <a:solidFill>
            <a:srgbClr val="46B6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457201"/>
          </a:xfrm>
          <a:prstGeom prst="rect">
            <a:avLst/>
          </a:prstGeom>
          <a:solidFill>
            <a:srgbClr val="41A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457201"/>
          </a:xfrm>
          <a:prstGeom prst="rect">
            <a:avLst/>
          </a:prstGeom>
          <a:solidFill>
            <a:srgbClr val="3C9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457201"/>
          </a:xfrm>
          <a:prstGeom prst="rect">
            <a:avLst/>
          </a:prstGeom>
          <a:solidFill>
            <a:srgbClr val="3793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457201"/>
          </a:xfrm>
          <a:prstGeom prst="rect">
            <a:avLst/>
          </a:prstGeom>
          <a:solidFill>
            <a:srgbClr val="32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457201"/>
          </a:xfrm>
          <a:prstGeom prst="rect">
            <a:avLst/>
          </a:prstGeom>
          <a:solidFill>
            <a:srgbClr val="2D7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457201"/>
          </a:xfrm>
          <a:prstGeom prst="rect">
            <a:avLst/>
          </a:prstGeom>
          <a:solidFill>
            <a:srgbClr val="287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457201"/>
          </a:xfrm>
          <a:prstGeom prst="rect">
            <a:avLst/>
          </a:prstGeom>
          <a:solidFill>
            <a:srgbClr val="236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457201"/>
          </a:xfrm>
          <a:prstGeom prst="rect">
            <a:avLst/>
          </a:prstGeom>
          <a:solidFill>
            <a:srgbClr val="1E5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457201"/>
          </a:xfrm>
          <a:prstGeom prst="rect">
            <a:avLst/>
          </a:prstGeom>
          <a:solidFill>
            <a:srgbClr val="194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457201"/>
          </a:xfrm>
          <a:prstGeom prst="rect">
            <a:avLst/>
          </a:prstGeom>
          <a:solidFill>
            <a:srgbClr val="144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457201"/>
          </a:xfrm>
          <a:prstGeom prst="rect">
            <a:avLst/>
          </a:prstGeom>
          <a:solidFill>
            <a:srgbClr val="0F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1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“改變，從你我開始”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017520"/>
            <a:ext cx="30175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32918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700"/>
                </a:solidFill>
              </a:defRPr>
            </a:pPr>
            <a:r>
              <a:t>永續不是口號，而是每一天的選擇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2179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8F4F8"/>
                </a:solidFill>
              </a:defRPr>
            </a:pPr>
            <a:r>
              <a:t>謝謝聆聽 │ 讓我們一起行動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F4F8"/>
                </a:solidFill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